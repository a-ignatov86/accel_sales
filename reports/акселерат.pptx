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71" r:id="rId5"/>
    <p:sldId id="270" r:id="rId6"/>
    <p:sldId id="259" r:id="rId7"/>
    <p:sldId id="265" r:id="rId8"/>
    <p:sldId id="264" r:id="rId9"/>
    <p:sldId id="263" r:id="rId10"/>
    <p:sldId id="261" r:id="rId11"/>
    <p:sldId id="267" r:id="rId12"/>
    <p:sldId id="266" r:id="rId13"/>
    <p:sldId id="272" r:id="rId14"/>
    <p:sldId id="273" r:id="rId15"/>
    <p:sldId id="268" r:id="rId16"/>
    <p:sldId id="260" r:id="rId17"/>
    <p:sldId id="269" r:id="rId18"/>
    <p:sldId id="262" r:id="rId19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-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139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1470C-F8AE-4A4A-9354-A2E8EB89C3E5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DE8E2-5DDB-43A4-A322-3E9E9A4698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0312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3572E-A866-4F86-9457-39F727070E7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F6801-8C13-43B5-9E30-194F99F124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78842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F6801-8C13-43B5-9E30-194F99F124AB}" type="slidenum">
              <a:rPr lang="ru-RU" smtClean="0"/>
              <a:t>1</a:t>
            </a:fld>
            <a:endParaRPr lang="ru-RU"/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524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F6801-8C13-43B5-9E30-194F99F124AB}" type="slidenum">
              <a:rPr lang="ru-RU" smtClean="0">
                <a:solidFill>
                  <a:prstClr val="black"/>
                </a:solidFill>
              </a:rPr>
              <a:pPr/>
              <a:t>18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24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8C461-FBCE-4836-96CA-36FDD5733A7A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CC0E-E5E8-46F0-83C9-11FC5CEA94CA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A90C-BD17-4484-8682-6B6A42985DC2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DC4D9-EB74-4A36-AA8F-916B0791638C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17F4-74CD-4892-BB80-D2E18B99A948}" type="datetime1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5036-6D9F-47B6-885B-B565988613EF}" type="datetime1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F7-392C-4B97-996F-290AF7A99FB6}" type="datetime1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8C22-EC82-412C-A052-1466E3FF38F1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0D76E-F278-4871-B893-5B4E8488D660}" type="datetime1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D9CC-2809-4136-A466-982A6AA8D0A0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2720-6007-428A-A676-CEC501022375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7039E-CF2B-4422-92FB-23BACD22BCA9}" type="datetime1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1491630"/>
            <a:ext cx="8424936" cy="720080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Arial Narrow" panose="020B0606020202030204" pitchFamily="34" charset="0"/>
              </a:rPr>
              <a:t>Акселерационная программа «Вызовы будущего»</a:t>
            </a:r>
          </a:p>
        </p:txBody>
      </p:sp>
      <p:pic>
        <p:nvPicPr>
          <p:cNvPr id="1026" name="Picture 2" descr="C:\РАБОТА\РГУ ЭМБЛЕМА ФОТО\РГУ лого вектор.png"/>
          <p:cNvPicPr>
            <a:picLocks noChangeAspect="1" noChangeArrowheads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59403"/>
            <a:ext cx="2059012" cy="89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baku\Downloads\Лого_ПУТП_web - черный-RGB-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08" y="102609"/>
            <a:ext cx="1512168" cy="121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6262"/>
            <a:ext cx="1944216" cy="744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одзаголовок 2"/>
          <p:cNvSpPr txBox="1">
            <a:spLocks/>
          </p:cNvSpPr>
          <p:nvPr/>
        </p:nvSpPr>
        <p:spPr>
          <a:xfrm>
            <a:off x="430481" y="2355726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dirty="0">
                <a:solidFill>
                  <a:schemeClr val="tx1"/>
                </a:solidFill>
                <a:latin typeface="Arial Narrow" panose="020B0606020202030204" pitchFamily="34" charset="0"/>
              </a:rPr>
              <a:t>«</a:t>
            </a:r>
            <a:r>
              <a:rPr lang="ru-RU" sz="2400" dirty="0" err="1">
                <a:solidFill>
                  <a:schemeClr val="tx1"/>
                </a:solidFill>
                <a:latin typeface="Arial Narrow" panose="020B0606020202030204" pitchFamily="34" charset="0"/>
              </a:rPr>
              <a:t>СпросПрост</a:t>
            </a:r>
            <a:r>
              <a:rPr lang="ru-RU" sz="2400" dirty="0">
                <a:solidFill>
                  <a:schemeClr val="tx1"/>
                </a:solidFill>
                <a:latin typeface="Arial Narrow" panose="020B0606020202030204" pitchFamily="34" charset="0"/>
              </a:rPr>
              <a:t> »</a:t>
            </a:r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430481" y="3219822"/>
            <a:ext cx="842493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  <a:latin typeface="Arial Narrow" panose="020B0606020202030204" pitchFamily="34" charset="0"/>
              </a:rPr>
              <a:t>Лидер стартап-проекта: Никонорова Анна</a:t>
            </a:r>
            <a:endParaRPr lang="ru-RU" sz="20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  <a:p>
            <a:pPr algn="l"/>
            <a:r>
              <a:rPr lang="ru-RU" sz="2000" dirty="0">
                <a:solidFill>
                  <a:schemeClr val="tx1"/>
                </a:solidFill>
                <a:latin typeface="Arial Narrow" panose="020B0606020202030204" pitchFamily="34" charset="0"/>
              </a:rPr>
              <a:t>Наставник стартап-проекта: </a:t>
            </a:r>
            <a:r>
              <a:rPr lang="ru-RU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Перекатиева</a:t>
            </a:r>
            <a:r>
              <a:rPr lang="ru-RU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Татьяна Александровна</a:t>
            </a:r>
          </a:p>
          <a:p>
            <a:pPr algn="l"/>
            <a:endParaRPr lang="ru-RU" sz="20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Подзаголовок 2"/>
          <p:cNvSpPr txBox="1">
            <a:spLocks/>
          </p:cNvSpPr>
          <p:nvPr/>
        </p:nvSpPr>
        <p:spPr>
          <a:xfrm>
            <a:off x="430481" y="3579862"/>
            <a:ext cx="8424936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20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Подзаголовок 2"/>
          <p:cNvSpPr txBox="1">
            <a:spLocks/>
          </p:cNvSpPr>
          <p:nvPr/>
        </p:nvSpPr>
        <p:spPr>
          <a:xfrm>
            <a:off x="3239852" y="4587974"/>
            <a:ext cx="2520280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>
                <a:solidFill>
                  <a:srgbClr val="002060"/>
                </a:solidFill>
                <a:latin typeface="Arial Narrow" panose="020B0606020202030204" pitchFamily="34" charset="0"/>
              </a:rPr>
              <a:t>Рязань, 2025</a:t>
            </a:r>
          </a:p>
        </p:txBody>
      </p:sp>
    </p:spTree>
    <p:extLst>
      <p:ext uri="{BB962C8B-B14F-4D97-AF65-F5344CB8AC3E}">
        <p14:creationId xmlns:p14="http://schemas.microsoft.com/office/powerpoint/2010/main" val="144045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2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95486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ПРОБЛЕМА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1174373"/>
            <a:ext cx="828092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Коммерческим компаниям важно уметь предсказывать объемы спроса на продукцию, чтобы избежать затоваривания, использования избыточных складских помещений, либо недопроизводства товаров при наличии повышенного спроса.   </a:t>
            </a:r>
          </a:p>
          <a:p>
            <a:pPr indent="457200"/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 прогнозов склад и транспорт часто перегружены в пиковые периоды и простаивают в низкие.</a:t>
            </a:r>
          </a:p>
          <a:p>
            <a:pPr indent="457200"/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в планировании могут привести к излишним затратам или снижению потенциальной выручки.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57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3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95486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РЕШЕНИЕ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1181313"/>
            <a:ext cx="84249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Модель машинного обучения прогнозирует спрос с учётом сезонности, трендов и событий. Это позволит компании заранее знать, какие объёмы и позиции потребуются, и поможет заранее планировать пики загрузки складских помещений, оптимизировать графики отгрузок товара торговым точкам или покупателям, распределять ресурсы по складам и по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4071125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4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95486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РЕШЕНИЕ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1181313"/>
            <a:ext cx="8424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создании проекта используется язык программирования </a:t>
            </a:r>
            <a:r>
              <a:rPr lang="ru-RU" dirty="0" err="1"/>
              <a:t>Python</a:t>
            </a:r>
            <a:r>
              <a:rPr lang="ru-RU" dirty="0"/>
              <a:t>, библиотеки </a:t>
            </a:r>
            <a:r>
              <a:rPr lang="ru-RU" dirty="0" err="1"/>
              <a:t>Pandas</a:t>
            </a:r>
            <a:r>
              <a:rPr lang="ru-RU" dirty="0"/>
              <a:t> для работы с </a:t>
            </a:r>
            <a:r>
              <a:rPr lang="ru-RU" dirty="0" err="1"/>
              <a:t>датафреймом</a:t>
            </a:r>
            <a:r>
              <a:rPr lang="ru-RU" dirty="0"/>
              <a:t>, </a:t>
            </a:r>
            <a:r>
              <a:rPr lang="ru-RU" dirty="0" err="1"/>
              <a:t>mysql.connector</a:t>
            </a:r>
            <a:r>
              <a:rPr lang="ru-RU" dirty="0"/>
              <a:t> для работы с базами данных, </a:t>
            </a:r>
            <a:r>
              <a:rPr lang="ru-RU" dirty="0" err="1"/>
              <a:t>Matplotlib</a:t>
            </a:r>
            <a:r>
              <a:rPr lang="ru-RU" dirty="0"/>
              <a:t> для визуализации результатов, </a:t>
            </a:r>
            <a:r>
              <a:rPr lang="ru-RU" dirty="0" err="1"/>
              <a:t>scipy</a:t>
            </a:r>
            <a:r>
              <a:rPr lang="ru-RU" dirty="0"/>
              <a:t> для работы со </a:t>
            </a:r>
            <a:r>
              <a:rPr lang="ru-RU" dirty="0" err="1"/>
              <a:t>стат</a:t>
            </a:r>
            <a:r>
              <a:rPr lang="ru-RU" dirty="0"/>
              <a:t>-пакетами, </a:t>
            </a:r>
            <a:r>
              <a:rPr lang="ru-RU" dirty="0" err="1"/>
              <a:t>prophet</a:t>
            </a:r>
            <a:r>
              <a:rPr lang="ru-RU" dirty="0"/>
              <a:t> для анализа временных рядов.</a:t>
            </a:r>
          </a:p>
        </p:txBody>
      </p:sp>
    </p:spTree>
    <p:extLst>
      <p:ext uri="{BB962C8B-B14F-4D97-AF65-F5344CB8AC3E}">
        <p14:creationId xmlns:p14="http://schemas.microsoft.com/office/powerpoint/2010/main" val="270642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5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962D3F-9890-4FAF-A21B-DAB2ECF48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105" y="0"/>
            <a:ext cx="40277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3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6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95486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АКТУАЛЬНОСТЬ ПРОЕКТА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1181313"/>
            <a:ext cx="82809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Система  позволяет моделировать сценарии изменения спроса при изменении цены, введения </a:t>
            </a:r>
            <a:r>
              <a:rPr lang="ru-RU" dirty="0" err="1"/>
              <a:t>скидкок</a:t>
            </a:r>
            <a:r>
              <a:rPr lang="ru-RU" dirty="0"/>
              <a:t>, маркетинговых </a:t>
            </a:r>
            <a:r>
              <a:rPr lang="ru-RU" dirty="0" err="1"/>
              <a:t>промокомпаний</a:t>
            </a:r>
            <a:r>
              <a:rPr lang="ru-RU" dirty="0"/>
              <a:t>, а также покажет какие категории товара наиболее чувствительны к маркетинговым действиям.</a:t>
            </a:r>
            <a:endParaRPr lang="en-US" dirty="0"/>
          </a:p>
          <a:p>
            <a:r>
              <a:rPr lang="ru-RU" dirty="0"/>
              <a:t>Инновационность нашего решения заключается в том, что ML-модель позволяет автоматизировать декомпозицию временного ряда, а также интегрирует внешние факторы, такие как промоакции, календари, макроэкономическую статистику при необходимости.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266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7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51470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РЫНОК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765459"/>
            <a:ext cx="10081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B2B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D65B29B-D8D1-496C-BA97-355C89C8D0D9}"/>
              </a:ext>
            </a:extLst>
          </p:cNvPr>
          <p:cNvSpPr/>
          <p:nvPr/>
        </p:nvSpPr>
        <p:spPr>
          <a:xfrm>
            <a:off x="395536" y="1389470"/>
            <a:ext cx="784887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ЦЕЛЕВАЯ АУДИТОРИЯ</a:t>
            </a:r>
          </a:p>
          <a:p>
            <a:r>
              <a:rPr lang="ru-RU" dirty="0"/>
              <a:t>Малые и микро- предприятия в торговле и онлайн-ритейле, имеющие как офлайн-точки продаж, так и интернет-магазины.</a:t>
            </a:r>
          </a:p>
          <a:p>
            <a:r>
              <a:rPr lang="ru-RU" dirty="0"/>
              <a:t>Обычно работают с широким ассортиментом товаров (от 500 до 10 000 SKU) и имеют сезонные колебания продаж.</a:t>
            </a:r>
          </a:p>
          <a:p>
            <a:r>
              <a:rPr lang="ru-RU" dirty="0"/>
              <a:t>Используют 1С, </a:t>
            </a:r>
            <a:r>
              <a:rPr lang="ru-RU" dirty="0" err="1"/>
              <a:t>Excel</a:t>
            </a:r>
            <a:r>
              <a:rPr lang="ru-RU" dirty="0"/>
              <a:t>, иногда CRM-системы, при этом хотят  перейти к онлайн-аналитике и </a:t>
            </a:r>
            <a:r>
              <a:rPr lang="ru-RU" dirty="0" err="1"/>
              <a:t>digital</a:t>
            </a:r>
            <a:r>
              <a:rPr lang="ru-RU" dirty="0"/>
              <a:t>-инструментам.</a:t>
            </a:r>
          </a:p>
          <a:p>
            <a:r>
              <a:rPr lang="ru-RU" dirty="0"/>
              <a:t>Руководство открыто к инновациям и готово часть задач отдать на аутсорсинг.</a:t>
            </a:r>
          </a:p>
          <a:p>
            <a:endParaRPr lang="ru-RU" dirty="0"/>
          </a:p>
          <a:p>
            <a:r>
              <a:rPr lang="ru-RU" dirty="0"/>
              <a:t>Задачи - повысить управляемость продажами и логистикой с помощью системы прогнозов, а также получить конкурентное преимущество за счёт предиктивной аналитики</a:t>
            </a:r>
            <a:br>
              <a:rPr lang="ru-RU" dirty="0"/>
            </a:br>
            <a:endParaRPr lang="ru-RU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288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8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07504" y="0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БИЗНЕС-МОДЕЛЬ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272350-4E78-466B-8C2A-3B9999C48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627534"/>
            <a:ext cx="6873340" cy="443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0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279298"/>
            <a:ext cx="54523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9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23478"/>
            <a:ext cx="8136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РЕСУРСЫ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5759A0-5888-4AC1-905B-66EC1E09265D}"/>
              </a:ext>
            </a:extLst>
          </p:cNvPr>
          <p:cNvSpPr/>
          <p:nvPr/>
        </p:nvSpPr>
        <p:spPr>
          <a:xfrm>
            <a:off x="238345" y="1110072"/>
            <a:ext cx="432048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Actay Wide Bd" pitchFamily="50" charset="-52"/>
              </a:rPr>
              <a:t>Имеющиеся ресурсы</a:t>
            </a: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b="1" u="sng" dirty="0">
                <a:latin typeface="Actay Wide Bd" pitchFamily="50" charset="-52"/>
              </a:rPr>
              <a:t>Человеческий капитал:</a:t>
            </a:r>
          </a:p>
          <a:p>
            <a:r>
              <a:rPr lang="ru-RU" sz="1200" dirty="0">
                <a:latin typeface="Actay Wide Bd" pitchFamily="50" charset="-52"/>
              </a:rPr>
              <a:t>Специалист по анализу данных</a:t>
            </a:r>
          </a:p>
          <a:p>
            <a:r>
              <a:rPr lang="ru-RU" sz="1200" dirty="0">
                <a:latin typeface="Actay Wide Bd" pitchFamily="50" charset="-52"/>
              </a:rPr>
              <a:t>Бизнес аналитик</a:t>
            </a:r>
          </a:p>
          <a:p>
            <a:r>
              <a:rPr lang="ru-RU" sz="1200" dirty="0">
                <a:latin typeface="Actay Wide Bd" pitchFamily="50" charset="-52"/>
              </a:rPr>
              <a:t>Дизайнер</a:t>
            </a: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u="sng" dirty="0">
                <a:latin typeface="Actay Wide Bd" pitchFamily="50" charset="-52"/>
              </a:rPr>
              <a:t>Облака:</a:t>
            </a:r>
          </a:p>
          <a:p>
            <a:r>
              <a:rPr lang="ru-RU" sz="1200" dirty="0">
                <a:latin typeface="Actay Wide Bd" pitchFamily="50" charset="-52"/>
              </a:rPr>
              <a:t>тестовый сервер на </a:t>
            </a:r>
            <a:r>
              <a:rPr lang="ru-RU" sz="1200" dirty="0" err="1">
                <a:latin typeface="Actay Wide Bd" pitchFamily="50" charset="-52"/>
              </a:rPr>
              <a:t>Amvera</a:t>
            </a:r>
            <a:endParaRPr lang="ru-RU" sz="1200" dirty="0">
              <a:latin typeface="Actay Wide Bd" pitchFamily="50" charset="-52"/>
            </a:endParaRPr>
          </a:p>
          <a:p>
            <a:r>
              <a:rPr lang="ru-RU" sz="1200" dirty="0">
                <a:latin typeface="Actay Wide Bd" pitchFamily="50" charset="-52"/>
              </a:rPr>
              <a:t>тестовый сервер </a:t>
            </a:r>
            <a:r>
              <a:rPr lang="ru-RU" sz="1200" dirty="0" err="1">
                <a:latin typeface="Actay Wide Bd" pitchFamily="50" charset="-52"/>
              </a:rPr>
              <a:t>yandexCloud</a:t>
            </a:r>
            <a:endParaRPr lang="ru-RU" sz="1200" dirty="0">
              <a:latin typeface="Actay Wide Bd" pitchFamily="50" charset="-52"/>
            </a:endParaRP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u="sng" dirty="0">
                <a:latin typeface="Actay Wide Bd" pitchFamily="50" charset="-52"/>
              </a:rPr>
              <a:t>Оборудование и </a:t>
            </a:r>
            <a:r>
              <a:rPr lang="ru-RU" sz="1200" u="sng" dirty="0" err="1">
                <a:latin typeface="Actay Wide Bd" pitchFamily="50" charset="-52"/>
              </a:rPr>
              <a:t>програмное</a:t>
            </a:r>
            <a:r>
              <a:rPr lang="ru-RU" sz="1200" u="sng" dirty="0">
                <a:latin typeface="Actay Wide Bd" pitchFamily="50" charset="-52"/>
              </a:rPr>
              <a:t> обеспечение:</a:t>
            </a:r>
          </a:p>
          <a:p>
            <a:r>
              <a:rPr lang="ru-RU" sz="1200" dirty="0">
                <a:latin typeface="Actay Wide Bd" pitchFamily="50" charset="-52"/>
              </a:rPr>
              <a:t>Ноутбук с установленными</a:t>
            </a:r>
          </a:p>
          <a:p>
            <a:r>
              <a:rPr lang="ru-RU" sz="1200" dirty="0">
                <a:latin typeface="Actay Wide Bd" pitchFamily="50" charset="-52"/>
              </a:rPr>
              <a:t>- IDE </a:t>
            </a:r>
            <a:r>
              <a:rPr lang="ru-RU" sz="1200" dirty="0" err="1">
                <a:latin typeface="Actay Wide Bd" pitchFamily="50" charset="-52"/>
              </a:rPr>
              <a:t>Visal</a:t>
            </a:r>
            <a:r>
              <a:rPr lang="ru-RU" sz="1200" dirty="0">
                <a:latin typeface="Actay Wide Bd" pitchFamily="50" charset="-52"/>
              </a:rPr>
              <a:t> </a:t>
            </a:r>
            <a:r>
              <a:rPr lang="ru-RU" sz="1200" dirty="0" err="1">
                <a:latin typeface="Actay Wide Bd" pitchFamily="50" charset="-52"/>
              </a:rPr>
              <a:t>Studio</a:t>
            </a:r>
            <a:r>
              <a:rPr lang="ru-RU" sz="1200" dirty="0">
                <a:latin typeface="Actay Wide Bd" pitchFamily="50" charset="-52"/>
              </a:rPr>
              <a:t> </a:t>
            </a:r>
            <a:r>
              <a:rPr lang="ru-RU" sz="1200" dirty="0" err="1">
                <a:latin typeface="Actay Wide Bd" pitchFamily="50" charset="-52"/>
              </a:rPr>
              <a:t>Code</a:t>
            </a:r>
            <a:r>
              <a:rPr lang="ru-RU" sz="1200" dirty="0">
                <a:latin typeface="Actay Wide Bd" pitchFamily="50" charset="-52"/>
              </a:rPr>
              <a:t>, </a:t>
            </a:r>
          </a:p>
          <a:p>
            <a:r>
              <a:rPr lang="ru-RU" sz="1200" dirty="0">
                <a:latin typeface="Actay Wide Bd" pitchFamily="50" charset="-52"/>
              </a:rPr>
              <a:t>- интерпретатором </a:t>
            </a:r>
            <a:r>
              <a:rPr lang="ru-RU" sz="1200" dirty="0" err="1">
                <a:latin typeface="Actay Wide Bd" pitchFamily="50" charset="-52"/>
              </a:rPr>
              <a:t>python</a:t>
            </a:r>
            <a:r>
              <a:rPr lang="ru-RU" sz="1200" dirty="0">
                <a:latin typeface="Actay Wide Bd" pitchFamily="50" charset="-52"/>
              </a:rPr>
              <a:t>,</a:t>
            </a:r>
          </a:p>
          <a:p>
            <a:r>
              <a:rPr lang="ru-RU" sz="1200" dirty="0">
                <a:latin typeface="Actay Wide Bd" pitchFamily="50" charset="-52"/>
              </a:rPr>
              <a:t>-библиотеками: </a:t>
            </a:r>
            <a:r>
              <a:rPr lang="ru-RU" sz="1200" dirty="0" err="1">
                <a:latin typeface="Actay Wide Bd" pitchFamily="50" charset="-52"/>
              </a:rPr>
              <a:t>pandas</a:t>
            </a:r>
            <a:r>
              <a:rPr lang="ru-RU" sz="1200" dirty="0">
                <a:latin typeface="Actay Wide Bd" pitchFamily="50" charset="-52"/>
              </a:rPr>
              <a:t>, </a:t>
            </a:r>
            <a:r>
              <a:rPr lang="ru-RU" sz="1200" dirty="0" err="1">
                <a:latin typeface="Actay Wide Bd" pitchFamily="50" charset="-52"/>
              </a:rPr>
              <a:t>numpy</a:t>
            </a:r>
            <a:r>
              <a:rPr lang="ru-RU" sz="1200" dirty="0">
                <a:latin typeface="Actay Wide Bd" pitchFamily="50" charset="-52"/>
              </a:rPr>
              <a:t>, </a:t>
            </a:r>
            <a:r>
              <a:rPr lang="ru-RU" sz="1200" dirty="0" err="1">
                <a:latin typeface="Actay Wide Bd" pitchFamily="50" charset="-52"/>
              </a:rPr>
              <a:t>matplotlib</a:t>
            </a:r>
            <a:r>
              <a:rPr lang="ru-RU" sz="1200" dirty="0">
                <a:latin typeface="Actay Wide Bd" pitchFamily="50" charset="-52"/>
              </a:rPr>
              <a:t>, </a:t>
            </a:r>
            <a:r>
              <a:rPr lang="ru-RU" sz="1200" dirty="0" err="1">
                <a:latin typeface="Actay Wide Bd" pitchFamily="50" charset="-52"/>
              </a:rPr>
              <a:t>statsmodels</a:t>
            </a:r>
            <a:r>
              <a:rPr lang="ru-RU" sz="1200" dirty="0">
                <a:latin typeface="Actay Wide Bd" pitchFamily="50" charset="-52"/>
              </a:rPr>
              <a:t>, </a:t>
            </a:r>
            <a:r>
              <a:rPr lang="ru-RU" sz="1200" dirty="0" err="1">
                <a:latin typeface="Actay Wide Bd" pitchFamily="50" charset="-52"/>
              </a:rPr>
              <a:t>sklearn</a:t>
            </a:r>
            <a:r>
              <a:rPr lang="ru-RU" sz="1200" dirty="0">
                <a:latin typeface="Actay Wide Bd" pitchFamily="50" charset="-52"/>
              </a:rPr>
              <a:t>, </a:t>
            </a:r>
            <a:r>
              <a:rPr lang="ru-RU" sz="1200" dirty="0" err="1">
                <a:latin typeface="Actay Wide Bd" pitchFamily="50" charset="-52"/>
              </a:rPr>
              <a:t>prophet</a:t>
            </a:r>
            <a:r>
              <a:rPr lang="ru-RU" sz="1200" dirty="0">
                <a:latin typeface="Actay Wide Bd" pitchFamily="50" charset="-52"/>
              </a:rPr>
              <a:t>, </a:t>
            </a:r>
            <a:r>
              <a:rPr lang="ru-RU" sz="1200" dirty="0" err="1">
                <a:latin typeface="Actay Wide Bd" pitchFamily="50" charset="-52"/>
              </a:rPr>
              <a:t>catboost</a:t>
            </a:r>
            <a:endParaRPr lang="ru-RU" sz="1200" dirty="0">
              <a:latin typeface="Actay Wide Bd" pitchFamily="50" charset="-52"/>
            </a:endParaRPr>
          </a:p>
          <a:p>
            <a:endParaRPr lang="ru-RU" sz="900" dirty="0"/>
          </a:p>
          <a:p>
            <a:endParaRPr lang="ru-RU" sz="9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40C3AB-1417-47AB-A237-6CD5B6086164}"/>
              </a:ext>
            </a:extLst>
          </p:cNvPr>
          <p:cNvSpPr/>
          <p:nvPr/>
        </p:nvSpPr>
        <p:spPr>
          <a:xfrm>
            <a:off x="4620308" y="1110072"/>
            <a:ext cx="432048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Actay Wide Bd" pitchFamily="50" charset="-52"/>
              </a:rPr>
              <a:t>Необходимые ресурсы</a:t>
            </a: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dirty="0">
                <a:latin typeface="Actay Wide Bd" pitchFamily="50" charset="-52"/>
              </a:rPr>
              <a:t>специалист по </a:t>
            </a:r>
            <a:r>
              <a:rPr lang="ru-RU" sz="1200" dirty="0" err="1">
                <a:latin typeface="Actay Wide Bd" pitchFamily="50" charset="-52"/>
              </a:rPr>
              <a:t>Data</a:t>
            </a:r>
            <a:r>
              <a:rPr lang="ru-RU" sz="1200" dirty="0">
                <a:latin typeface="Actay Wide Bd" pitchFamily="50" charset="-52"/>
              </a:rPr>
              <a:t> </a:t>
            </a:r>
            <a:r>
              <a:rPr lang="ru-RU" sz="1200" dirty="0" err="1">
                <a:latin typeface="Actay Wide Bd" pitchFamily="50" charset="-52"/>
              </a:rPr>
              <a:t>Scient</a:t>
            </a:r>
            <a:r>
              <a:rPr lang="ru-RU" sz="1200" dirty="0">
                <a:latin typeface="Actay Wide Bd" pitchFamily="50" charset="-52"/>
              </a:rPr>
              <a:t> </a:t>
            </a: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dirty="0" err="1">
                <a:latin typeface="Actay Wide Bd" pitchFamily="50" charset="-52"/>
              </a:rPr>
              <a:t>DevOps</a:t>
            </a:r>
            <a:r>
              <a:rPr lang="ru-RU" sz="1200" dirty="0">
                <a:latin typeface="Actay Wide Bd" pitchFamily="50" charset="-52"/>
              </a:rPr>
              <a:t> инженер</a:t>
            </a: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dirty="0">
                <a:latin typeface="Actay Wide Bd" pitchFamily="50" charset="-52"/>
              </a:rPr>
              <a:t>аренда сервера </a:t>
            </a:r>
            <a:r>
              <a:rPr lang="ru-RU" sz="1200" dirty="0" err="1">
                <a:latin typeface="Actay Wide Bd" pitchFamily="50" charset="-52"/>
              </a:rPr>
              <a:t>Amvera</a:t>
            </a:r>
            <a:r>
              <a:rPr lang="ru-RU" sz="1200" dirty="0">
                <a:latin typeface="Actay Wide Bd" pitchFamily="50" charset="-52"/>
              </a:rPr>
              <a:t>, </a:t>
            </a:r>
            <a:r>
              <a:rPr lang="ru-RU" sz="1200" dirty="0" err="1">
                <a:latin typeface="Actay Wide Bd" pitchFamily="50" charset="-52"/>
              </a:rPr>
              <a:t>yandex</a:t>
            </a:r>
            <a:r>
              <a:rPr lang="ru-RU" sz="1200" dirty="0">
                <a:latin typeface="Actay Wide Bd" pitchFamily="50" charset="-52"/>
              </a:rPr>
              <a:t> </a:t>
            </a:r>
            <a:r>
              <a:rPr lang="ru-RU" sz="1200" dirty="0" err="1">
                <a:latin typeface="Actay Wide Bd" pitchFamily="50" charset="-52"/>
              </a:rPr>
              <a:t>Cloud</a:t>
            </a:r>
            <a:r>
              <a:rPr lang="ru-RU" sz="1200" dirty="0">
                <a:latin typeface="Actay Wide Bd" pitchFamily="50" charset="-52"/>
              </a:rPr>
              <a:t> </a:t>
            </a:r>
          </a:p>
          <a:p>
            <a:r>
              <a:rPr lang="ru-RU" sz="1200" dirty="0">
                <a:latin typeface="Actay Wide Bd" pitchFamily="50" charset="-52"/>
              </a:rPr>
              <a:t>или зарубежные аналоги</a:t>
            </a: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dirty="0">
                <a:latin typeface="Actay Wide Bd" pitchFamily="50" charset="-52"/>
              </a:rPr>
              <a:t>IDE </a:t>
            </a:r>
            <a:r>
              <a:rPr lang="ru-RU" sz="1200" dirty="0" err="1">
                <a:latin typeface="Actay Wide Bd" pitchFamily="50" charset="-52"/>
              </a:rPr>
              <a:t>PyCharm</a:t>
            </a:r>
            <a:r>
              <a:rPr lang="ru-RU" sz="1200" dirty="0">
                <a:latin typeface="Actay Wide Bd" pitchFamily="50" charset="-52"/>
              </a:rPr>
              <a:t> </a:t>
            </a:r>
            <a:r>
              <a:rPr lang="ru-RU" sz="1200" dirty="0" err="1">
                <a:latin typeface="Actay Wide Bd" pitchFamily="50" charset="-52"/>
              </a:rPr>
              <a:t>Pro</a:t>
            </a:r>
            <a:r>
              <a:rPr lang="ru-RU" sz="1200" dirty="0">
                <a:latin typeface="Actay Wide Bd" pitchFamily="50" charset="-52"/>
              </a:rPr>
              <a:t> </a:t>
            </a:r>
          </a:p>
          <a:p>
            <a:endParaRPr lang="ru-RU" sz="1200" dirty="0">
              <a:latin typeface="Actay Wide Bd" pitchFamily="50" charset="-52"/>
            </a:endParaRPr>
          </a:p>
          <a:p>
            <a:r>
              <a:rPr lang="ru-RU" sz="1200" dirty="0" err="1">
                <a:latin typeface="Actay Wide Bd" pitchFamily="50" charset="-52"/>
              </a:rPr>
              <a:t>MacBook</a:t>
            </a:r>
            <a:r>
              <a:rPr lang="ru-RU" sz="1200" dirty="0">
                <a:latin typeface="Actay Wide Bd" pitchFamily="50" charset="-52"/>
              </a:rPr>
              <a:t> </a:t>
            </a:r>
            <a:r>
              <a:rPr lang="ru-RU" sz="1200" dirty="0" err="1">
                <a:latin typeface="Actay Wide Bd" pitchFamily="50" charset="-52"/>
              </a:rPr>
              <a:t>Pro</a:t>
            </a:r>
            <a:r>
              <a:rPr lang="ru-RU" sz="1200" dirty="0">
                <a:latin typeface="Actay Wide Bd" pitchFamily="50" charset="-52"/>
              </a:rPr>
              <a:t> 16 (32G оперативной памяти)</a:t>
            </a:r>
          </a:p>
        </p:txBody>
      </p:sp>
    </p:spTree>
    <p:extLst>
      <p:ext uri="{BB962C8B-B14F-4D97-AF65-F5344CB8AC3E}">
        <p14:creationId xmlns:p14="http://schemas.microsoft.com/office/powerpoint/2010/main" val="29109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100392" y="309401"/>
            <a:ext cx="864096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10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23478"/>
            <a:ext cx="6768752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АНАЛОГИ И КОНКУРЕНТЫ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9386D59-68DE-4DDF-967A-DF33053F7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37956"/>
              </p:ext>
            </p:extLst>
          </p:nvPr>
        </p:nvGraphicFramePr>
        <p:xfrm>
          <a:off x="395536" y="987574"/>
          <a:ext cx="8208912" cy="3846524"/>
        </p:xfrm>
        <a:graphic>
          <a:graphicData uri="http://schemas.openxmlformats.org/drawingml/2006/table">
            <a:tbl>
              <a:tblPr/>
              <a:tblGrid>
                <a:gridCol w="1603410">
                  <a:extLst>
                    <a:ext uri="{9D8B030D-6E8A-4147-A177-3AD203B41FA5}">
                      <a16:colId xmlns:a16="http://schemas.microsoft.com/office/drawing/2014/main" val="883869804"/>
                    </a:ext>
                  </a:extLst>
                </a:gridCol>
                <a:gridCol w="1636950">
                  <a:extLst>
                    <a:ext uri="{9D8B030D-6E8A-4147-A177-3AD203B41FA5}">
                      <a16:colId xmlns:a16="http://schemas.microsoft.com/office/drawing/2014/main" val="21033873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402838316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429036315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4184034481"/>
                    </a:ext>
                  </a:extLst>
                </a:gridCol>
              </a:tblGrid>
              <a:tr h="38112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Характеристики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НИКО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Loginom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Монолит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Терралинк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700880"/>
                  </a:ext>
                </a:extLst>
              </a:tr>
              <a:tr h="5376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Сегмент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микро/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малый бизнес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средний/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крупный бизнес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Крупные предприятия 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уже использующие Монолит ERP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Крупные предприятия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5687467"/>
                  </a:ext>
                </a:extLst>
              </a:tr>
              <a:tr h="10047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Ключевые</a:t>
                      </a:r>
                      <a:b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функции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Подготовка данных, построение ML-модели с учётом 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промо-компаний и сезонности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Подготовка данных,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ансамбли моделей,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автоматизация планирования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Встроенное прогнозирование в ERP: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горизонты, агрегации, отчёты.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Процессная интеграция, прогнозы, S&amp;OP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424066"/>
                  </a:ext>
                </a:extLst>
              </a:tr>
              <a:tr h="80555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Интеграция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Возможность встраивания в бесплатные 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BI-решения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Встраивается в ограниченое число 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поддерживаемых ERP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Встраивается в 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ERP-</a:t>
                      </a: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платформу Монолит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Встраивается в существующую</a:t>
                      </a:r>
                      <a:b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ERP-</a:t>
                      </a: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платформу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560365"/>
                  </a:ext>
                </a:extLst>
              </a:tr>
              <a:tr h="5023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Скорость </a:t>
                      </a:r>
                      <a:b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внедрения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половины до одного месяца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половины до полутора месяцев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 недели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2-3 месяца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196266"/>
                  </a:ext>
                </a:extLst>
              </a:tr>
              <a:tr h="61499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Цена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300-500 тыс.руб.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400 тыс.руб.за лицензию + 200 тыс.руб.внедрение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Входит в ERP-пакет, модуль ≈ 200–400 тыс.руб.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5–10 млн ₽ за внедрение + сопровождение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188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03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100392" y="279298"/>
            <a:ext cx="833264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11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23478"/>
            <a:ext cx="8136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ru-RU" sz="4000" b="1" dirty="0">
                <a:solidFill>
                  <a:srgbClr val="002060"/>
                </a:solidFill>
                <a:latin typeface="Arial Narrow" panose="020B0606020202030204" pitchFamily="34" charset="0"/>
              </a:rPr>
              <a:t>ПАРТНЕРЫ, ЗАИНТЕРЕСОВАННЫЕ ОРГАНИЗАЦИИ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61222" y="1491630"/>
            <a:ext cx="82809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rgbClr val="00B0F0"/>
              </a:buClr>
            </a:pPr>
            <a:r>
              <a:rPr lang="ru-RU" sz="2000" dirty="0">
                <a:solidFill>
                  <a:prstClr val="black"/>
                </a:solidFill>
                <a:latin typeface="Arial Narrow" panose="020B0606020202030204" pitchFamily="34" charset="0"/>
              </a:rPr>
              <a:t>ООО Центр автоматизации «</a:t>
            </a:r>
            <a:r>
              <a:rPr lang="ru-RU" sz="2000" dirty="0" err="1">
                <a:solidFill>
                  <a:prstClr val="black"/>
                </a:solidFill>
                <a:latin typeface="Arial Narrow" panose="020B0606020202030204" pitchFamily="34" charset="0"/>
              </a:rPr>
              <a:t>Промавтоматика</a:t>
            </a:r>
            <a:r>
              <a:rPr lang="ru-RU" sz="2000" dirty="0">
                <a:solidFill>
                  <a:prstClr val="black"/>
                </a:solidFill>
                <a:latin typeface="Arial Narrow" panose="020B060602020203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20518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125771"/>
            <a:ext cx="64807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12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23478"/>
            <a:ext cx="8136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КАЛЕНДАРНЫЙ ПЛАН РЕАЛИЗАЦИИ СТАРТАП-ПРОЕКТА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8B63D34-D9C2-470F-DADB-2E7A8D828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469103"/>
              </p:ext>
            </p:extLst>
          </p:nvPr>
        </p:nvGraphicFramePr>
        <p:xfrm>
          <a:off x="395536" y="1419622"/>
          <a:ext cx="8352928" cy="3166032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3390793">
                  <a:extLst>
                    <a:ext uri="{9D8B030D-6E8A-4147-A177-3AD203B41FA5}">
                      <a16:colId xmlns:a16="http://schemas.microsoft.com/office/drawing/2014/main" val="81781414"/>
                    </a:ext>
                  </a:extLst>
                </a:gridCol>
                <a:gridCol w="2894579">
                  <a:extLst>
                    <a:ext uri="{9D8B030D-6E8A-4147-A177-3AD203B41FA5}">
                      <a16:colId xmlns:a16="http://schemas.microsoft.com/office/drawing/2014/main" val="568571029"/>
                    </a:ext>
                  </a:extLst>
                </a:gridCol>
                <a:gridCol w="2067556">
                  <a:extLst>
                    <a:ext uri="{9D8B030D-6E8A-4147-A177-3AD203B41FA5}">
                      <a16:colId xmlns:a16="http://schemas.microsoft.com/office/drawing/2014/main" val="114764549"/>
                    </a:ext>
                  </a:extLst>
                </a:gridCol>
              </a:tblGrid>
              <a:tr h="3615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Название этапа календарного плана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</a:rPr>
                        <a:t>Длительность этапа, недель.</a:t>
                      </a:r>
                      <a:endParaRPr lang="ru-RU" sz="1100" b="1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</a:rPr>
                        <a:t>Стоимость, руб.</a:t>
                      </a:r>
                      <a:endParaRPr lang="ru-RU" sz="1100" b="1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34783001"/>
                  </a:ext>
                </a:extLst>
              </a:tr>
              <a:tr h="723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1. Получение и обработка исторических данных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21224390"/>
                  </a:ext>
                </a:extLst>
              </a:tr>
              <a:tr h="5028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2. Обучение модели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270</a:t>
                      </a:r>
                    </a:p>
                    <a:p>
                      <a:pPr indent="450215" algn="ctr">
                        <a:lnSpc>
                          <a:spcPct val="100000"/>
                        </a:lnSpc>
                      </a:pP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79434236"/>
                  </a:ext>
                </a:extLst>
              </a:tr>
              <a:tr h="5725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3. Выгрузка проекта в репозиторий	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  <a:p>
                      <a:pPr indent="450215" algn="ctr">
                        <a:lnSpc>
                          <a:spcPct val="100000"/>
                        </a:lnSpc>
                      </a:pP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09830440"/>
                  </a:ext>
                </a:extLst>
              </a:tr>
              <a:tr h="5028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ru-RU" sz="1400" b="0" baseline="0" dirty="0">
                          <a:solidFill>
                            <a:schemeClr val="tx1"/>
                          </a:solidFill>
                          <a:effectLst/>
                        </a:rPr>
                        <a:t> Документация и передача знаний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indent="450215" algn="ctr">
                        <a:lnSpc>
                          <a:spcPct val="100000"/>
                        </a:lnSpc>
                      </a:pPr>
                      <a:endParaRPr lang="ru-RU" sz="11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5312078"/>
                  </a:ext>
                </a:extLst>
              </a:tr>
              <a:tr h="5028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r">
                        <a:lnSpc>
                          <a:spcPct val="100000"/>
                        </a:lnSpc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ИТОГО:</a:t>
                      </a:r>
                      <a:endParaRPr lang="ru-RU" sz="11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b="1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roy"/>
                          <a:ea typeface=""/>
                          <a:cs typeface=""/>
                        </a:defRPr>
                      </a:lvl9pPr>
                    </a:lstStyle>
                    <a:p>
                      <a:pPr indent="450215" algn="ctr">
                        <a:lnSpc>
                          <a:spcPct val="100000"/>
                        </a:lnSpc>
                      </a:pPr>
                      <a:r>
                        <a:rPr lang="ru-RU" sz="1100" b="1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0331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713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125771"/>
            <a:ext cx="64807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13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23478"/>
            <a:ext cx="8136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КАЛЕНДАРНЫЙ ПЛАН РЕАЛИЗАЦИИ СТАРТАП-ПРОЕКТА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BB3DE85-2911-46D7-AF32-3E3D29674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91859"/>
              </p:ext>
            </p:extLst>
          </p:nvPr>
        </p:nvGraphicFramePr>
        <p:xfrm>
          <a:off x="395536" y="1200148"/>
          <a:ext cx="7632842" cy="3603854"/>
        </p:xfrm>
        <a:graphic>
          <a:graphicData uri="http://schemas.openxmlformats.org/drawingml/2006/table">
            <a:tbl>
              <a:tblPr/>
              <a:tblGrid>
                <a:gridCol w="136730">
                  <a:extLst>
                    <a:ext uri="{9D8B030D-6E8A-4147-A177-3AD203B41FA5}">
                      <a16:colId xmlns:a16="http://schemas.microsoft.com/office/drawing/2014/main" val="3701176055"/>
                    </a:ext>
                  </a:extLst>
                </a:gridCol>
                <a:gridCol w="3358258">
                  <a:extLst>
                    <a:ext uri="{9D8B030D-6E8A-4147-A177-3AD203B41FA5}">
                      <a16:colId xmlns:a16="http://schemas.microsoft.com/office/drawing/2014/main" val="3880862145"/>
                    </a:ext>
                  </a:extLst>
                </a:gridCol>
                <a:gridCol w="136730">
                  <a:extLst>
                    <a:ext uri="{9D8B030D-6E8A-4147-A177-3AD203B41FA5}">
                      <a16:colId xmlns:a16="http://schemas.microsoft.com/office/drawing/2014/main" val="3750611323"/>
                    </a:ext>
                  </a:extLst>
                </a:gridCol>
                <a:gridCol w="208691">
                  <a:extLst>
                    <a:ext uri="{9D8B030D-6E8A-4147-A177-3AD203B41FA5}">
                      <a16:colId xmlns:a16="http://schemas.microsoft.com/office/drawing/2014/main" val="4279062233"/>
                    </a:ext>
                  </a:extLst>
                </a:gridCol>
                <a:gridCol w="187103">
                  <a:extLst>
                    <a:ext uri="{9D8B030D-6E8A-4147-A177-3AD203B41FA5}">
                      <a16:colId xmlns:a16="http://schemas.microsoft.com/office/drawing/2014/main" val="341195281"/>
                    </a:ext>
                  </a:extLst>
                </a:gridCol>
                <a:gridCol w="302243">
                  <a:extLst>
                    <a:ext uri="{9D8B030D-6E8A-4147-A177-3AD203B41FA5}">
                      <a16:colId xmlns:a16="http://schemas.microsoft.com/office/drawing/2014/main" val="2101166224"/>
                    </a:ext>
                  </a:extLst>
                </a:gridCol>
                <a:gridCol w="187103">
                  <a:extLst>
                    <a:ext uri="{9D8B030D-6E8A-4147-A177-3AD203B41FA5}">
                      <a16:colId xmlns:a16="http://schemas.microsoft.com/office/drawing/2014/main" val="217478991"/>
                    </a:ext>
                  </a:extLst>
                </a:gridCol>
                <a:gridCol w="187103">
                  <a:extLst>
                    <a:ext uri="{9D8B030D-6E8A-4147-A177-3AD203B41FA5}">
                      <a16:colId xmlns:a16="http://schemas.microsoft.com/office/drawing/2014/main" val="1467051000"/>
                    </a:ext>
                  </a:extLst>
                </a:gridCol>
                <a:gridCol w="223084">
                  <a:extLst>
                    <a:ext uri="{9D8B030D-6E8A-4147-A177-3AD203B41FA5}">
                      <a16:colId xmlns:a16="http://schemas.microsoft.com/office/drawing/2014/main" val="167373444"/>
                    </a:ext>
                  </a:extLst>
                </a:gridCol>
                <a:gridCol w="187103">
                  <a:extLst>
                    <a:ext uri="{9D8B030D-6E8A-4147-A177-3AD203B41FA5}">
                      <a16:colId xmlns:a16="http://schemas.microsoft.com/office/drawing/2014/main" val="542717046"/>
                    </a:ext>
                  </a:extLst>
                </a:gridCol>
                <a:gridCol w="237477">
                  <a:extLst>
                    <a:ext uri="{9D8B030D-6E8A-4147-A177-3AD203B41FA5}">
                      <a16:colId xmlns:a16="http://schemas.microsoft.com/office/drawing/2014/main" val="3498686280"/>
                    </a:ext>
                  </a:extLst>
                </a:gridCol>
                <a:gridCol w="237477">
                  <a:extLst>
                    <a:ext uri="{9D8B030D-6E8A-4147-A177-3AD203B41FA5}">
                      <a16:colId xmlns:a16="http://schemas.microsoft.com/office/drawing/2014/main" val="3977444983"/>
                    </a:ext>
                  </a:extLst>
                </a:gridCol>
                <a:gridCol w="259066">
                  <a:extLst>
                    <a:ext uri="{9D8B030D-6E8A-4147-A177-3AD203B41FA5}">
                      <a16:colId xmlns:a16="http://schemas.microsoft.com/office/drawing/2014/main" val="3811012612"/>
                    </a:ext>
                  </a:extLst>
                </a:gridCol>
                <a:gridCol w="187103">
                  <a:extLst>
                    <a:ext uri="{9D8B030D-6E8A-4147-A177-3AD203B41FA5}">
                      <a16:colId xmlns:a16="http://schemas.microsoft.com/office/drawing/2014/main" val="3846539041"/>
                    </a:ext>
                  </a:extLst>
                </a:gridCol>
                <a:gridCol w="187103">
                  <a:extLst>
                    <a:ext uri="{9D8B030D-6E8A-4147-A177-3AD203B41FA5}">
                      <a16:colId xmlns:a16="http://schemas.microsoft.com/office/drawing/2014/main" val="3671972965"/>
                    </a:ext>
                  </a:extLst>
                </a:gridCol>
                <a:gridCol w="187103">
                  <a:extLst>
                    <a:ext uri="{9D8B030D-6E8A-4147-A177-3AD203B41FA5}">
                      <a16:colId xmlns:a16="http://schemas.microsoft.com/office/drawing/2014/main" val="1868154811"/>
                    </a:ext>
                  </a:extLst>
                </a:gridCol>
                <a:gridCol w="244673">
                  <a:extLst>
                    <a:ext uri="{9D8B030D-6E8A-4147-A177-3AD203B41FA5}">
                      <a16:colId xmlns:a16="http://schemas.microsoft.com/office/drawing/2014/main" val="623494241"/>
                    </a:ext>
                  </a:extLst>
                </a:gridCol>
                <a:gridCol w="244673">
                  <a:extLst>
                    <a:ext uri="{9D8B030D-6E8A-4147-A177-3AD203B41FA5}">
                      <a16:colId xmlns:a16="http://schemas.microsoft.com/office/drawing/2014/main" val="3307217684"/>
                    </a:ext>
                  </a:extLst>
                </a:gridCol>
                <a:gridCol w="244673">
                  <a:extLst>
                    <a:ext uri="{9D8B030D-6E8A-4147-A177-3AD203B41FA5}">
                      <a16:colId xmlns:a16="http://schemas.microsoft.com/office/drawing/2014/main" val="3117840707"/>
                    </a:ext>
                  </a:extLst>
                </a:gridCol>
                <a:gridCol w="244673">
                  <a:extLst>
                    <a:ext uri="{9D8B030D-6E8A-4147-A177-3AD203B41FA5}">
                      <a16:colId xmlns:a16="http://schemas.microsoft.com/office/drawing/2014/main" val="387672122"/>
                    </a:ext>
                  </a:extLst>
                </a:gridCol>
                <a:gridCol w="244673">
                  <a:extLst>
                    <a:ext uri="{9D8B030D-6E8A-4147-A177-3AD203B41FA5}">
                      <a16:colId xmlns:a16="http://schemas.microsoft.com/office/drawing/2014/main" val="1647600498"/>
                    </a:ext>
                  </a:extLst>
                </a:gridCol>
              </a:tblGrid>
              <a:tr h="57273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3462"/>
                          </a:solidFill>
                          <a:effectLst/>
                          <a:latin typeface="Calibri" panose="020F0502020204030204" pitchFamily="34" charset="0"/>
                        </a:rPr>
                        <a:t>ЭТАПЫ И МЕРОПРИЯТИЯ ПРОЕКТА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3462"/>
                          </a:solidFill>
                          <a:effectLst/>
                          <a:latin typeface="Calibri" panose="020F0502020204030204" pitchFamily="34" charset="0"/>
                        </a:rPr>
                        <a:t>Недели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3462"/>
                          </a:solidFill>
                          <a:effectLst/>
                          <a:latin typeface="Calibri" panose="020F0502020204030204" pitchFamily="34" charset="0"/>
                        </a:rPr>
                        <a:t>УЧАСТНИКИ</a:t>
                      </a:r>
                      <a:br>
                        <a:rPr lang="ru-RU" sz="800" b="1" i="0" u="none" strike="noStrike">
                          <a:solidFill>
                            <a:srgbClr val="003462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800" b="1" i="0" u="none" strike="noStrike">
                          <a:solidFill>
                            <a:srgbClr val="003462"/>
                          </a:solidFill>
                          <a:effectLst/>
                          <a:latin typeface="Calibri" panose="020F0502020204030204" pitchFamily="34" charset="0"/>
                        </a:rPr>
                        <a:t>(О-ответственный исполнитель. С-соисполнитель)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302192"/>
                  </a:ext>
                </a:extLst>
              </a:tr>
              <a:tr h="121156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ЭТАП 1 Получение и обработка исторических данных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43333"/>
                  </a:ext>
                </a:extLst>
              </a:tr>
              <a:tr h="180633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1.1.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Сбор данных о продажах и маркетинговых компаниях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485812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 Подключение к SQL базе данных клиента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179049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 Создание таблицы с продажами товаров по дням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914792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 Выгрузка данных в датафрейм Pandas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798807"/>
                  </a:ext>
                </a:extLst>
              </a:tr>
              <a:tr h="180633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1.2.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Создание датафрейма для обучения модели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523780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1.2.1 Очистка и предобработка данных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145778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1.2.2  Обогащение датафрейма (дни недели, месяцы, промо и т.д.)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392019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1.2.3 Дескриптивная аналитика и визуализация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912225"/>
                  </a:ext>
                </a:extLst>
              </a:tr>
              <a:tr h="116751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ЭТАП 2 Обучение модели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41524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 Выбор метрик качества модели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940713"/>
                  </a:ext>
                </a:extLst>
              </a:tr>
              <a:tr h="101330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 Создание baseline модели при помощи библиотеки prophet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025206"/>
                  </a:ext>
                </a:extLst>
              </a:tr>
              <a:tr h="101330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 Обучение модели CatBoost на тренировочной выборке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808545"/>
                  </a:ext>
                </a:extLst>
              </a:tr>
              <a:tr h="180633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 Проверка предсказаний модели на тестовой выборке и сравнение метрик с baseline моделью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285611"/>
                  </a:ext>
                </a:extLst>
              </a:tr>
              <a:tr h="180633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 Подключение к BI системе заказчика (опционально)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648528"/>
                  </a:ext>
                </a:extLst>
              </a:tr>
              <a:tr h="116751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ЭТАП 3  Выгрузка проекта в репозиторий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99985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3.1. Настройка подключение к репозиторию github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056983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3.2. Выгрузка коммитов всех этапов в репозиторий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660505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 Деплой итоговой версии проекта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401760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3.4.API для получения прогнозов(опционально)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168534"/>
                  </a:ext>
                </a:extLst>
              </a:tr>
              <a:tr h="116751">
                <a:tc gridSpan="2">
                  <a:txBody>
                    <a:bodyPr/>
                    <a:lstStyle/>
                    <a:p>
                      <a:pPr algn="l" fontAlgn="b"/>
                      <a:r>
                        <a:rPr lang="ru-RU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ЭТАП 4 Документация и передача знаний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149" marR="4149" marT="4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098863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4.1. Техническая документация (README + подробное описание pipeline)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332976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4.2. Демонстрация работы и обучение персонала заказчика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382606"/>
                  </a:ext>
                </a:extLst>
              </a:tr>
              <a:tr h="116751"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4.3. Руководство пользователя API (опционально)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</a:t>
                      </a:r>
                    </a:p>
                  </a:txBody>
                  <a:tcPr marL="4149" marR="4149" marT="4149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786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84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388424" y="125771"/>
            <a:ext cx="648072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14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23478"/>
            <a:ext cx="8136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КАЛЕНДАРНЫЙ ПЛАН РЕАЛИЗАЦИИ СТАРТАП-ПРОЕКТА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1B7102D-C129-4789-B5B6-D21E67D93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082125"/>
              </p:ext>
            </p:extLst>
          </p:nvPr>
        </p:nvGraphicFramePr>
        <p:xfrm>
          <a:off x="755648" y="1786572"/>
          <a:ext cx="8136907" cy="2657391"/>
        </p:xfrm>
        <a:graphic>
          <a:graphicData uri="http://schemas.openxmlformats.org/drawingml/2006/table">
            <a:tbl>
              <a:tblPr/>
              <a:tblGrid>
                <a:gridCol w="173191">
                  <a:extLst>
                    <a:ext uri="{9D8B030D-6E8A-4147-A177-3AD203B41FA5}">
                      <a16:colId xmlns:a16="http://schemas.microsoft.com/office/drawing/2014/main" val="1298775612"/>
                    </a:ext>
                  </a:extLst>
                </a:gridCol>
                <a:gridCol w="3409113">
                  <a:extLst>
                    <a:ext uri="{9D8B030D-6E8A-4147-A177-3AD203B41FA5}">
                      <a16:colId xmlns:a16="http://schemas.microsoft.com/office/drawing/2014/main" val="1505735033"/>
                    </a:ext>
                  </a:extLst>
                </a:gridCol>
                <a:gridCol w="173191">
                  <a:extLst>
                    <a:ext uri="{9D8B030D-6E8A-4147-A177-3AD203B41FA5}">
                      <a16:colId xmlns:a16="http://schemas.microsoft.com/office/drawing/2014/main" val="2735281482"/>
                    </a:ext>
                  </a:extLst>
                </a:gridCol>
                <a:gridCol w="264343">
                  <a:extLst>
                    <a:ext uri="{9D8B030D-6E8A-4147-A177-3AD203B41FA5}">
                      <a16:colId xmlns:a16="http://schemas.microsoft.com/office/drawing/2014/main" val="3707667598"/>
                    </a:ext>
                  </a:extLst>
                </a:gridCol>
                <a:gridCol w="303843">
                  <a:extLst>
                    <a:ext uri="{9D8B030D-6E8A-4147-A177-3AD203B41FA5}">
                      <a16:colId xmlns:a16="http://schemas.microsoft.com/office/drawing/2014/main" val="2962596228"/>
                    </a:ext>
                  </a:extLst>
                </a:gridCol>
                <a:gridCol w="470956">
                  <a:extLst>
                    <a:ext uri="{9D8B030D-6E8A-4147-A177-3AD203B41FA5}">
                      <a16:colId xmlns:a16="http://schemas.microsoft.com/office/drawing/2014/main" val="751074009"/>
                    </a:ext>
                  </a:extLst>
                </a:gridCol>
                <a:gridCol w="303843">
                  <a:extLst>
                    <a:ext uri="{9D8B030D-6E8A-4147-A177-3AD203B41FA5}">
                      <a16:colId xmlns:a16="http://schemas.microsoft.com/office/drawing/2014/main" val="1651341434"/>
                    </a:ext>
                  </a:extLst>
                </a:gridCol>
                <a:gridCol w="303843">
                  <a:extLst>
                    <a:ext uri="{9D8B030D-6E8A-4147-A177-3AD203B41FA5}">
                      <a16:colId xmlns:a16="http://schemas.microsoft.com/office/drawing/2014/main" val="231495801"/>
                    </a:ext>
                  </a:extLst>
                </a:gridCol>
                <a:gridCol w="349419">
                  <a:extLst>
                    <a:ext uri="{9D8B030D-6E8A-4147-A177-3AD203B41FA5}">
                      <a16:colId xmlns:a16="http://schemas.microsoft.com/office/drawing/2014/main" val="375122415"/>
                    </a:ext>
                  </a:extLst>
                </a:gridCol>
                <a:gridCol w="303843">
                  <a:extLst>
                    <a:ext uri="{9D8B030D-6E8A-4147-A177-3AD203B41FA5}">
                      <a16:colId xmlns:a16="http://schemas.microsoft.com/office/drawing/2014/main" val="3557735921"/>
                    </a:ext>
                  </a:extLst>
                </a:gridCol>
                <a:gridCol w="379803">
                  <a:extLst>
                    <a:ext uri="{9D8B030D-6E8A-4147-A177-3AD203B41FA5}">
                      <a16:colId xmlns:a16="http://schemas.microsoft.com/office/drawing/2014/main" val="4161942501"/>
                    </a:ext>
                  </a:extLst>
                </a:gridCol>
                <a:gridCol w="379803">
                  <a:extLst>
                    <a:ext uri="{9D8B030D-6E8A-4147-A177-3AD203B41FA5}">
                      <a16:colId xmlns:a16="http://schemas.microsoft.com/office/drawing/2014/main" val="1872088635"/>
                    </a:ext>
                  </a:extLst>
                </a:gridCol>
                <a:gridCol w="410187">
                  <a:extLst>
                    <a:ext uri="{9D8B030D-6E8A-4147-A177-3AD203B41FA5}">
                      <a16:colId xmlns:a16="http://schemas.microsoft.com/office/drawing/2014/main" val="2984980125"/>
                    </a:ext>
                  </a:extLst>
                </a:gridCol>
                <a:gridCol w="303843">
                  <a:extLst>
                    <a:ext uri="{9D8B030D-6E8A-4147-A177-3AD203B41FA5}">
                      <a16:colId xmlns:a16="http://schemas.microsoft.com/office/drawing/2014/main" val="419517643"/>
                    </a:ext>
                  </a:extLst>
                </a:gridCol>
                <a:gridCol w="303843">
                  <a:extLst>
                    <a:ext uri="{9D8B030D-6E8A-4147-A177-3AD203B41FA5}">
                      <a16:colId xmlns:a16="http://schemas.microsoft.com/office/drawing/2014/main" val="2494218317"/>
                    </a:ext>
                  </a:extLst>
                </a:gridCol>
                <a:gridCol w="303843">
                  <a:extLst>
                    <a:ext uri="{9D8B030D-6E8A-4147-A177-3AD203B41FA5}">
                      <a16:colId xmlns:a16="http://schemas.microsoft.com/office/drawing/2014/main" val="3169376553"/>
                    </a:ext>
                  </a:extLst>
                </a:gridCol>
              </a:tblGrid>
              <a:tr h="241581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ПЛАТЕЖИ ПО ВИДАМ ЗАТРАТ (тыс.руб)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52702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Имеющиеся ресурсы (205 тыс. руб.)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278192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Оплата труда Руководителя проекта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18916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Оплата труда Специалиста по анализу данных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023072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Оплата труда Бизнес-аналитика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30886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Необходимые ресурсы (300 тыс. руб.)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833105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Приобритение ноутбука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784712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Приобретение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 PyCharm Pro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876458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Оплата труда специалиста по Data Scient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184208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Оплата труда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DevOps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инженера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181529"/>
                  </a:ext>
                </a:extLst>
              </a:tr>
              <a:tr h="241581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Аренда сервера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158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076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244408" y="279298"/>
            <a:ext cx="689248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15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123478"/>
            <a:ext cx="8136904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ПЛАНЫ ПО РАЗВИТИЮ </a:t>
            </a:r>
          </a:p>
          <a:p>
            <a:pPr marL="0" indent="0">
              <a:lnSpc>
                <a:spcPts val="4400"/>
              </a:lnSpc>
              <a:spcBef>
                <a:spcPts val="0"/>
              </a:spcBef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И МАСШТАБИРОВАНИЮ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1373477"/>
            <a:ext cx="8280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  <a:latin typeface="Arial Narrow" panose="020B0606020202030204" pitchFamily="34" charset="0"/>
              </a:rPr>
              <a:t>Описать перспективы развития </a:t>
            </a:r>
            <a:r>
              <a:rPr lang="ru-RU" sz="2000" dirty="0" err="1">
                <a:solidFill>
                  <a:prstClr val="black"/>
                </a:solidFill>
                <a:latin typeface="Arial Narrow" panose="020B0606020202030204" pitchFamily="34" charset="0"/>
              </a:rPr>
              <a:t>стартап</a:t>
            </a:r>
            <a:r>
              <a:rPr lang="ru-RU" sz="2000" dirty="0">
                <a:solidFill>
                  <a:prstClr val="black"/>
                </a:solidFill>
                <a:latin typeface="Arial Narrow" panose="020B0606020202030204" pitchFamily="34" charset="0"/>
              </a:rPr>
              <a:t>-проекта через 1 год, 5 лет.</a:t>
            </a:r>
            <a:endParaRPr lang="ru-RU" dirty="0"/>
          </a:p>
        </p:txBody>
      </p:sp>
      <p:sp>
        <p:nvSpPr>
          <p:cNvPr id="7" name="Google Shape;386;p14"/>
          <p:cNvSpPr txBox="1">
            <a:spLocks/>
          </p:cNvSpPr>
          <p:nvPr/>
        </p:nvSpPr>
        <p:spPr>
          <a:xfrm>
            <a:off x="825179" y="6856956"/>
            <a:ext cx="1736542" cy="10508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600"/>
              <a:buFont typeface="Arial" pitchFamily="34" charset="0"/>
              <a:buNone/>
            </a:pPr>
            <a:r>
              <a:rPr lang="ru-RU" sz="2000"/>
              <a:t>Руководитель проекта. Маркетолог.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53659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244408" y="279298"/>
            <a:ext cx="689248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16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51470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КОМАНДА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682393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996883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236296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220547" y="2915199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540224" y="2897992"/>
            <a:ext cx="1152128" cy="13681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6732240" y="2291056"/>
            <a:ext cx="2088232" cy="1394867"/>
            <a:chOff x="6732240" y="2305204"/>
            <a:chExt cx="2088232" cy="1394867"/>
          </a:xfrm>
        </p:grpSpPr>
        <p:sp>
          <p:nvSpPr>
            <p:cNvPr id="18" name="Прямоугольник 17"/>
            <p:cNvSpPr/>
            <p:nvPr/>
          </p:nvSpPr>
          <p:spPr>
            <a:xfrm>
              <a:off x="6732240" y="2305204"/>
              <a:ext cx="2088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 err="1">
                  <a:solidFill>
                    <a:prstClr val="black"/>
                  </a:solidFill>
                  <a:latin typeface="Arial Narrow" panose="020B0606020202030204" pitchFamily="34" charset="0"/>
                </a:rPr>
                <a:t>Нечушкина</a:t>
              </a:r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Маргарита </a:t>
              </a:r>
              <a:endParaRPr lang="ru-RU" sz="1400" b="1" dirty="0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7164288" y="2499742"/>
              <a:ext cx="129614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Тестировщик,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тестирование подключения программы к заданной базе данных</a:t>
              </a:r>
              <a:endParaRPr lang="ru-RU" sz="1100" dirty="0"/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4594629" y="2315656"/>
            <a:ext cx="2011264" cy="1579533"/>
            <a:chOff x="6809208" y="2305204"/>
            <a:chExt cx="2011264" cy="1579533"/>
          </a:xfrm>
        </p:grpSpPr>
        <p:sp>
          <p:nvSpPr>
            <p:cNvPr id="25" name="Прямоугольник 24"/>
            <p:cNvSpPr/>
            <p:nvPr/>
          </p:nvSpPr>
          <p:spPr>
            <a:xfrm>
              <a:off x="6809208" y="2305204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Мухина Екатерина</a:t>
              </a:r>
              <a:endParaRPr lang="ru-RU" sz="1400" b="1" dirty="0"/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7164288" y="2499742"/>
              <a:ext cx="1296144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Дизайнер,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разработка дизайна для визуального оформления выводов работы программы</a:t>
              </a:r>
              <a:endParaRPr lang="ru-RU" sz="1100" dirty="0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2252825" y="2283718"/>
            <a:ext cx="2011264" cy="1579533"/>
            <a:chOff x="6809208" y="2305204"/>
            <a:chExt cx="2011264" cy="1579533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6809208" y="2305204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 err="1">
                  <a:solidFill>
                    <a:prstClr val="black"/>
                  </a:solidFill>
                  <a:latin typeface="Arial Narrow" panose="020B0606020202030204" pitchFamily="34" charset="0"/>
                </a:rPr>
                <a:t>Моргаду</a:t>
              </a:r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</a:t>
              </a:r>
              <a:r>
                <a:rPr lang="ru-RU" sz="1600" b="1" dirty="0" err="1">
                  <a:solidFill>
                    <a:prstClr val="black"/>
                  </a:solidFill>
                  <a:latin typeface="Arial Narrow" panose="020B0606020202030204" pitchFamily="34" charset="0"/>
                </a:rPr>
                <a:t>Дионизия</a:t>
              </a:r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</a:t>
              </a:r>
              <a:endParaRPr lang="ru-RU" sz="1400" b="1" dirty="0"/>
            </a:p>
          </p:txBody>
        </p:sp>
        <p:sp>
          <p:nvSpPr>
            <p:cNvPr id="29" name="Прямоугольник 28"/>
            <p:cNvSpPr/>
            <p:nvPr/>
          </p:nvSpPr>
          <p:spPr>
            <a:xfrm>
              <a:off x="7164288" y="2499742"/>
              <a:ext cx="1296144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Разработчик базы данных 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разработка структуры базы данных, наполнение базы данных (</a:t>
              </a:r>
              <a:r>
                <a:rPr lang="en-US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SQL)</a:t>
              </a:r>
              <a:endParaRPr lang="ru-RU" sz="1100" dirty="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109984" y="2294170"/>
            <a:ext cx="2011264" cy="1394867"/>
            <a:chOff x="6809208" y="2305204"/>
            <a:chExt cx="2011264" cy="1394867"/>
          </a:xfrm>
        </p:grpSpPr>
        <p:sp>
          <p:nvSpPr>
            <p:cNvPr id="31" name="Прямоугольник 30"/>
            <p:cNvSpPr/>
            <p:nvPr/>
          </p:nvSpPr>
          <p:spPr>
            <a:xfrm>
              <a:off x="6809208" y="2305204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Никонорова Анна </a:t>
              </a:r>
              <a:endParaRPr lang="ru-RU" sz="1400" b="1" dirty="0"/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7164288" y="2499742"/>
              <a:ext cx="129614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Руководитель, координация и организация работы, планирование спринтов</a:t>
              </a:r>
              <a:endParaRPr lang="ru-RU" sz="1100" dirty="0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5812537" y="4283351"/>
            <a:ext cx="2011264" cy="832145"/>
            <a:chOff x="6900294" y="2241946"/>
            <a:chExt cx="2011264" cy="832145"/>
          </a:xfrm>
        </p:grpSpPr>
        <p:sp>
          <p:nvSpPr>
            <p:cNvPr id="35" name="Прямоугольник 34"/>
            <p:cNvSpPr/>
            <p:nvPr/>
          </p:nvSpPr>
          <p:spPr>
            <a:xfrm>
              <a:off x="6900294" y="2241946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 err="1">
                  <a:solidFill>
                    <a:prstClr val="black"/>
                  </a:solidFill>
                  <a:latin typeface="Arial Narrow" panose="020B0606020202030204" pitchFamily="34" charset="0"/>
                </a:rPr>
                <a:t>Торобцева</a:t>
              </a:r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Екатерина</a:t>
              </a:r>
              <a:endParaRPr lang="ru-RU" sz="1400" b="1" dirty="0"/>
            </a:p>
          </p:txBody>
        </p:sp>
        <p:sp>
          <p:nvSpPr>
            <p:cNvPr id="36" name="Прямоугольник 35"/>
            <p:cNvSpPr/>
            <p:nvPr/>
          </p:nvSpPr>
          <p:spPr>
            <a:xfrm>
              <a:off x="7171925" y="2427760"/>
              <a:ext cx="158417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Дата-аналитик,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анализ временных рядов, продаж, товаров</a:t>
              </a:r>
            </a:p>
          </p:txBody>
        </p:sp>
      </p:grpSp>
      <p:grpSp>
        <p:nvGrpSpPr>
          <p:cNvPr id="40" name="Группа 39"/>
          <p:cNvGrpSpPr/>
          <p:nvPr/>
        </p:nvGrpSpPr>
        <p:grpSpPr>
          <a:xfrm>
            <a:off x="1092881" y="4274681"/>
            <a:ext cx="2011264" cy="824278"/>
            <a:chOff x="6638624" y="2207935"/>
            <a:chExt cx="2011264" cy="824278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6638624" y="2207935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Смагина Ольга </a:t>
              </a:r>
              <a:endParaRPr lang="ru-RU" sz="1400" b="1" dirty="0"/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6846432" y="2385882"/>
              <a:ext cx="154569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Тестировщик,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тестирование логики работы программы </a:t>
              </a:r>
              <a:endParaRPr lang="ru-RU" sz="1100" dirty="0"/>
            </a:p>
          </p:txBody>
        </p:sp>
      </p:grp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3A349E78-BE92-4A63-8288-2B76261CEF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7" t="-1220" r="6206" b="5390"/>
          <a:stretch/>
        </p:blipFill>
        <p:spPr>
          <a:xfrm>
            <a:off x="1530186" y="2869362"/>
            <a:ext cx="1172204" cy="1396783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7AD2C262-AA9B-4214-B6EA-30E936A525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/>
          <a:stretch/>
        </p:blipFill>
        <p:spPr>
          <a:xfrm>
            <a:off x="4996883" y="915566"/>
            <a:ext cx="1152128" cy="1368152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F595E7B-D077-4437-A2F3-29C4C80B5F8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3" t="30510" r="4897" b="1428"/>
          <a:stretch/>
        </p:blipFill>
        <p:spPr>
          <a:xfrm>
            <a:off x="539552" y="877355"/>
            <a:ext cx="1152128" cy="1413701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812B711D-568B-4401-BCF1-445DEA6A62B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6" t="5532" r="13920" b="1616"/>
          <a:stretch/>
        </p:blipFill>
        <p:spPr>
          <a:xfrm>
            <a:off x="2663325" y="883082"/>
            <a:ext cx="1171195" cy="1413702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7AF9A38E-5509-4D27-A073-4FA4BF1AC83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1" t="820" r="4903" b="2226"/>
          <a:stretch/>
        </p:blipFill>
        <p:spPr>
          <a:xfrm>
            <a:off x="6210507" y="2904322"/>
            <a:ext cx="1162168" cy="1384996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B4A8EA44-86A0-4FC3-A77E-44232024ADC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4" t="3945" r="2794" b="24552"/>
          <a:stretch/>
        </p:blipFill>
        <p:spPr>
          <a:xfrm>
            <a:off x="7236296" y="915566"/>
            <a:ext cx="1152128" cy="137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90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244408" y="279298"/>
            <a:ext cx="689248" cy="492252"/>
          </a:xfrm>
        </p:spPr>
        <p:txBody>
          <a:bodyPr/>
          <a:lstStyle/>
          <a:p>
            <a:pPr algn="ctr"/>
            <a:fld id="{B19B0651-EE4F-4900-A07F-96A6BFA9D0F0}" type="slidenum">
              <a:rPr lang="ru-RU" sz="4000" b="1" smtClean="0">
                <a:solidFill>
                  <a:srgbClr val="002060"/>
                </a:solidFill>
                <a:latin typeface="Arial Narrow" panose="020B0606020202030204" pitchFamily="34" charset="0"/>
              </a:rPr>
              <a:pPr algn="ctr"/>
              <a:t>17</a:t>
            </a:fld>
            <a:endParaRPr lang="ru-RU" sz="40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51520" y="51470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КОМАНДА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682393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996883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236296" y="915566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151019" y="2811011"/>
            <a:ext cx="1152128" cy="1368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517055" y="2827800"/>
            <a:ext cx="1150750" cy="13519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6806728" y="2277919"/>
            <a:ext cx="2011264" cy="1219551"/>
            <a:chOff x="6729665" y="2292067"/>
            <a:chExt cx="2088232" cy="1219551"/>
          </a:xfrm>
        </p:grpSpPr>
        <p:sp>
          <p:nvSpPr>
            <p:cNvPr id="18" name="Прямоугольник 17"/>
            <p:cNvSpPr/>
            <p:nvPr/>
          </p:nvSpPr>
          <p:spPr>
            <a:xfrm>
              <a:off x="6729665" y="2292067"/>
              <a:ext cx="2088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 err="1">
                  <a:solidFill>
                    <a:prstClr val="black"/>
                  </a:solidFill>
                  <a:latin typeface="Arial Narrow" panose="020B0606020202030204" pitchFamily="34" charset="0"/>
                </a:rPr>
                <a:t>Чикарёва</a:t>
              </a:r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Юлия </a:t>
              </a:r>
              <a:endParaRPr lang="ru-RU" sz="1400" b="1" dirty="0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7177215" y="2495955"/>
              <a:ext cx="129614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Бизнес-аналитик,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определение необходимых результатов работы продукта</a:t>
              </a:r>
              <a:endParaRPr lang="ru-RU" sz="1100" dirty="0"/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4615379" y="2277919"/>
            <a:ext cx="2011264" cy="1419836"/>
            <a:chOff x="6829958" y="2267467"/>
            <a:chExt cx="2011264" cy="1419836"/>
          </a:xfrm>
        </p:grpSpPr>
        <p:sp>
          <p:nvSpPr>
            <p:cNvPr id="25" name="Прямоугольник 24"/>
            <p:cNvSpPr/>
            <p:nvPr/>
          </p:nvSpPr>
          <p:spPr>
            <a:xfrm>
              <a:off x="6829958" y="2267467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/>
                <a:t>Цыплакова Полина</a:t>
              </a:r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7161180" y="2486974"/>
              <a:ext cx="129614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Бизнес-аналитик,</a:t>
              </a:r>
              <a:endParaRPr lang="ru-RU" sz="1100" dirty="0">
                <a:solidFill>
                  <a:prstClr val="black"/>
                </a:solidFill>
                <a:latin typeface="Arial Narrow" panose="020B0606020202030204" pitchFamily="34" charset="0"/>
              </a:endParaRP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определения требований заказчика и коммуникация с командой</a:t>
              </a: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2252825" y="2283718"/>
            <a:ext cx="2011264" cy="1025535"/>
            <a:chOff x="6809208" y="2305204"/>
            <a:chExt cx="2011264" cy="1025535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6809208" y="2305204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Федотова Яна</a:t>
              </a:r>
              <a:endParaRPr lang="ru-RU" sz="1400" b="1" dirty="0"/>
            </a:p>
          </p:txBody>
        </p:sp>
        <p:sp>
          <p:nvSpPr>
            <p:cNvPr id="29" name="Прямоугольник 28"/>
            <p:cNvSpPr/>
            <p:nvPr/>
          </p:nvSpPr>
          <p:spPr>
            <a:xfrm>
              <a:off x="7164287" y="2499742"/>
              <a:ext cx="142336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Дата-аналитик 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анализ влияния внешних факторов на объёмы продаж</a:t>
              </a:r>
              <a:endParaRPr lang="ru-RU" sz="1100" dirty="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109984" y="2294170"/>
            <a:ext cx="1910025" cy="1210201"/>
            <a:chOff x="6809208" y="2305204"/>
            <a:chExt cx="1910025" cy="1210201"/>
          </a:xfrm>
        </p:grpSpPr>
        <p:sp>
          <p:nvSpPr>
            <p:cNvPr id="31" name="Прямоугольник 30"/>
            <p:cNvSpPr/>
            <p:nvPr/>
          </p:nvSpPr>
          <p:spPr>
            <a:xfrm>
              <a:off x="6809208" y="2305204"/>
              <a:ext cx="191002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 err="1">
                  <a:solidFill>
                    <a:prstClr val="black"/>
                  </a:solidFill>
                  <a:latin typeface="Arial Narrow" panose="020B0606020202030204" pitchFamily="34" charset="0"/>
                </a:rPr>
                <a:t>Никулаев</a:t>
              </a:r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Иван </a:t>
              </a:r>
              <a:endParaRPr lang="ru-RU" sz="1400" b="1" dirty="0"/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6950744" y="2499742"/>
              <a:ext cx="131879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Программист, 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преобразование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базы данных</a:t>
              </a:r>
              <a:r>
                <a:rPr lang="en-US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SQL</a:t>
              </a:r>
              <a:endParaRPr lang="ru-RU" sz="1200" dirty="0">
                <a:solidFill>
                  <a:prstClr val="black"/>
                </a:solidFill>
                <a:latin typeface="Arial Narrow" panose="020B0606020202030204" pitchFamily="34" charset="0"/>
              </a:endParaRP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в </a:t>
              </a:r>
              <a:r>
                <a:rPr lang="ru-RU" sz="1200" dirty="0" err="1">
                  <a:solidFill>
                    <a:prstClr val="black"/>
                  </a:solidFill>
                  <a:latin typeface="Arial Narrow" panose="020B0606020202030204" pitchFamily="34" charset="0"/>
                </a:rPr>
                <a:t>датафрейм</a:t>
              </a:r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</a:t>
              </a:r>
            </a:p>
            <a:p>
              <a:pPr algn="ctr"/>
              <a:r>
                <a:rPr lang="en-US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pandas</a:t>
              </a:r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 </a:t>
              </a:r>
              <a:endParaRPr lang="ru-RU" sz="1100" dirty="0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5721451" y="4145832"/>
            <a:ext cx="2011264" cy="1010146"/>
            <a:chOff x="6809208" y="2305204"/>
            <a:chExt cx="2011264" cy="1010146"/>
          </a:xfrm>
        </p:grpSpPr>
        <p:sp>
          <p:nvSpPr>
            <p:cNvPr id="35" name="Прямоугольник 34"/>
            <p:cNvSpPr/>
            <p:nvPr/>
          </p:nvSpPr>
          <p:spPr>
            <a:xfrm>
              <a:off x="6809208" y="2305204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Рябов Андрей </a:t>
              </a:r>
              <a:endParaRPr lang="ru-RU" sz="1400" b="1" dirty="0"/>
            </a:p>
          </p:txBody>
        </p:sp>
        <p:sp>
          <p:nvSpPr>
            <p:cNvPr id="36" name="Прямоугольник 35"/>
            <p:cNvSpPr/>
            <p:nvPr/>
          </p:nvSpPr>
          <p:spPr>
            <a:xfrm>
              <a:off x="7092279" y="2499742"/>
              <a:ext cx="1591813" cy="8156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DevOps</a:t>
              </a:r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заливка кода на удалённый сервер</a:t>
              </a:r>
              <a:endParaRPr lang="ru-RU" sz="1200" dirty="0">
                <a:latin typeface="Arial Narrow" panose="020B0606020202030204" pitchFamily="34" charset="0"/>
              </a:endParaRPr>
            </a:p>
            <a:p>
              <a:pPr algn="ctr"/>
              <a:endParaRPr lang="ru-RU" sz="1100" dirty="0"/>
            </a:p>
          </p:txBody>
        </p:sp>
      </p:grpSp>
      <p:grpSp>
        <p:nvGrpSpPr>
          <p:cNvPr id="40" name="Группа 39"/>
          <p:cNvGrpSpPr/>
          <p:nvPr/>
        </p:nvGrpSpPr>
        <p:grpSpPr>
          <a:xfrm>
            <a:off x="1086798" y="4179163"/>
            <a:ext cx="2011264" cy="840869"/>
            <a:chOff x="6809208" y="2305204"/>
            <a:chExt cx="2011264" cy="840869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6809208" y="2305204"/>
              <a:ext cx="2011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6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Шадрина Софья </a:t>
              </a:r>
              <a:endParaRPr lang="ru-RU" sz="1400" b="1" dirty="0"/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7021399" y="2499742"/>
              <a:ext cx="159181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Дата-аналитик,</a:t>
              </a:r>
            </a:p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анализ временных рядов, продаж, товаров </a:t>
              </a:r>
              <a:endParaRPr lang="ru-RU" sz="1100" dirty="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DC036F-9EA5-4E3C-B430-388CA4B896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91" t="11471" r="1391" b="-11471"/>
          <a:stretch/>
        </p:blipFill>
        <p:spPr>
          <a:xfrm>
            <a:off x="4963543" y="901436"/>
            <a:ext cx="1185468" cy="157798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3853E3-904B-4FBD-A31E-A7EE5A0AF6E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7"/>
          <a:stretch/>
        </p:blipFill>
        <p:spPr>
          <a:xfrm>
            <a:off x="2644046" y="901436"/>
            <a:ext cx="1200490" cy="143919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7088E0A-D67D-46BF-BFC6-4019819A215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0" b="14761"/>
          <a:stretch/>
        </p:blipFill>
        <p:spPr>
          <a:xfrm>
            <a:off x="1501288" y="2818558"/>
            <a:ext cx="1166518" cy="136815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0DB1788-5D2C-43B2-A8EE-1E9706842B8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7" t="15995" r="10110" b="4255"/>
          <a:stretch/>
        </p:blipFill>
        <p:spPr>
          <a:xfrm>
            <a:off x="7236296" y="901435"/>
            <a:ext cx="1152128" cy="139273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D6BF2218-5271-473A-9D1B-CEA1A5D7280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" t="4625" r="-553" b="16765"/>
          <a:stretch/>
        </p:blipFill>
        <p:spPr>
          <a:xfrm>
            <a:off x="539552" y="901435"/>
            <a:ext cx="1160296" cy="13858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DAA667-70DA-4B93-ADB1-7E96B33C69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864" y="2812873"/>
            <a:ext cx="1164437" cy="13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9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1491630"/>
            <a:ext cx="8424936" cy="720080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Arial Narrow" panose="020B0606020202030204" pitchFamily="34" charset="0"/>
              </a:rPr>
              <a:t>«</a:t>
            </a:r>
            <a:r>
              <a:rPr lang="ru-RU" sz="2800" b="1" dirty="0" err="1">
                <a:solidFill>
                  <a:srgbClr val="002060"/>
                </a:solidFill>
                <a:latin typeface="Arial Narrow" panose="020B0606020202030204" pitchFamily="34" charset="0"/>
              </a:rPr>
              <a:t>СпросПрост</a:t>
            </a:r>
            <a:r>
              <a:rPr lang="ru-RU" sz="2800" b="1" dirty="0">
                <a:solidFill>
                  <a:srgbClr val="002060"/>
                </a:solidFill>
                <a:latin typeface="Arial Narrow" panose="020B0606020202030204" pitchFamily="34" charset="0"/>
              </a:rPr>
              <a:t>»</a:t>
            </a:r>
          </a:p>
        </p:txBody>
      </p:sp>
      <p:pic>
        <p:nvPicPr>
          <p:cNvPr id="1026" name="Picture 2" descr="C:\РАБОТА\РГУ ЭМБЛЕМА ФОТО\РГУ лого вектор.png"/>
          <p:cNvPicPr>
            <a:picLocks noChangeAspect="1" noChangeArrowheads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59403"/>
            <a:ext cx="2059012" cy="89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baku\Downloads\Лого_ПУТП_web - черный-RGB-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08" y="102609"/>
            <a:ext cx="1512168" cy="121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6262"/>
            <a:ext cx="1944216" cy="744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одзаголовок 2"/>
          <p:cNvSpPr txBox="1">
            <a:spLocks/>
          </p:cNvSpPr>
          <p:nvPr/>
        </p:nvSpPr>
        <p:spPr>
          <a:xfrm>
            <a:off x="430481" y="2355726"/>
            <a:ext cx="8424936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2400" dirty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Подзаголовок 2"/>
          <p:cNvSpPr txBox="1">
            <a:spLocks/>
          </p:cNvSpPr>
          <p:nvPr/>
        </p:nvSpPr>
        <p:spPr>
          <a:xfrm>
            <a:off x="6084167" y="4011910"/>
            <a:ext cx="258985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2000" dirty="0">
              <a:solidFill>
                <a:prstClr val="black">
                  <a:lumMod val="50000"/>
                  <a:lumOff val="50000"/>
                </a:prstClr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268842" y="2370094"/>
            <a:ext cx="1399502" cy="16418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5996485" y="4022943"/>
            <a:ext cx="1944216" cy="493023"/>
            <a:chOff x="6012160" y="4083918"/>
            <a:chExt cx="1944216" cy="493023"/>
          </a:xfrm>
        </p:grpSpPr>
        <p:sp>
          <p:nvSpPr>
            <p:cNvPr id="15" name="Прямоугольник 14"/>
            <p:cNvSpPr/>
            <p:nvPr/>
          </p:nvSpPr>
          <p:spPr>
            <a:xfrm>
              <a:off x="6012160" y="4083918"/>
              <a:ext cx="194421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400" b="1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Никонорова Анна</a:t>
              </a:r>
              <a:endParaRPr lang="ru-RU" sz="1200" b="1" dirty="0"/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6320521" y="4299942"/>
              <a:ext cx="129614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200" dirty="0">
                  <a:solidFill>
                    <a:prstClr val="black"/>
                  </a:solidFill>
                  <a:latin typeface="Arial Narrow" panose="020B0606020202030204" pitchFamily="34" charset="0"/>
                </a:rPr>
                <a:t>лидер проекта</a:t>
              </a:r>
              <a:endParaRPr lang="ru-RU" sz="1100" dirty="0"/>
            </a:p>
          </p:txBody>
        </p:sp>
      </p:grpSp>
      <p:sp>
        <p:nvSpPr>
          <p:cNvPr id="17" name="Прямоугольник 16"/>
          <p:cNvSpPr/>
          <p:nvPr/>
        </p:nvSpPr>
        <p:spPr>
          <a:xfrm>
            <a:off x="1187624" y="2283718"/>
            <a:ext cx="399271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600" b="1" dirty="0">
                <a:solidFill>
                  <a:srgbClr val="002060"/>
                </a:solidFill>
                <a:latin typeface="Arial Narrow" panose="020B0606020202030204" pitchFamily="34" charset="0"/>
              </a:rPr>
              <a:t>КОНТАКТНАЯ ИНФОРМАЦИЯ:</a:t>
            </a:r>
            <a:r>
              <a:rPr lang="ru-RU" sz="1600" dirty="0">
                <a:solidFill>
                  <a:srgbClr val="002060"/>
                </a:solidFill>
                <a:latin typeface="Arial Narrow" panose="020B0606020202030204" pitchFamily="34" charset="0"/>
              </a:rPr>
              <a:t> </a:t>
            </a:r>
          </a:p>
          <a:p>
            <a:pPr algn="r"/>
            <a:r>
              <a:rPr lang="ru-RU" sz="1600" dirty="0">
                <a:solidFill>
                  <a:prstClr val="black"/>
                </a:solidFill>
                <a:latin typeface="Arial Narrow" panose="020B0606020202030204" pitchFamily="34" charset="0"/>
              </a:rPr>
              <a:t>контактный номер</a:t>
            </a:r>
          </a:p>
          <a:p>
            <a:pPr algn="r"/>
            <a:r>
              <a:rPr lang="ru-RU" sz="1600" dirty="0">
                <a:solidFill>
                  <a:prstClr val="black"/>
                </a:solidFill>
                <a:latin typeface="Arial Narrow" panose="020B0606020202030204" pitchFamily="34" charset="0"/>
              </a:rPr>
              <a:t>89209540568 </a:t>
            </a:r>
          </a:p>
          <a:p>
            <a:pPr algn="r"/>
            <a:r>
              <a:rPr lang="ru-RU" sz="1600" dirty="0">
                <a:solidFill>
                  <a:prstClr val="black"/>
                </a:solidFill>
                <a:latin typeface="Arial Narrow" panose="020B0606020202030204" pitchFamily="34" charset="0"/>
              </a:rPr>
              <a:t>электронный адрес</a:t>
            </a:r>
          </a:p>
          <a:p>
            <a:pPr algn="r"/>
            <a:r>
              <a:rPr lang="en-US" sz="1600" dirty="0">
                <a:solidFill>
                  <a:prstClr val="black"/>
                </a:solidFill>
                <a:latin typeface="Arial Narrow" panose="020B0606020202030204" pitchFamily="34" charset="0"/>
              </a:rPr>
              <a:t>anna.nikonorova.07@mail.ru</a:t>
            </a:r>
            <a:endParaRPr lang="ru-RU" sz="1600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algn="r"/>
            <a:r>
              <a:rPr lang="ru-RU" sz="1600" dirty="0">
                <a:solidFill>
                  <a:prstClr val="black"/>
                </a:solidFill>
                <a:latin typeface="Arial Narrow" panose="020B0606020202030204" pitchFamily="34" charset="0"/>
              </a:rPr>
              <a:t>сайт</a:t>
            </a:r>
          </a:p>
          <a:p>
            <a:pPr algn="r"/>
            <a:r>
              <a:rPr lang="ru-RU" sz="1400" dirty="0"/>
              <a:t>…</a:t>
            </a:r>
          </a:p>
        </p:txBody>
      </p:sp>
      <p:sp>
        <p:nvSpPr>
          <p:cNvPr id="18" name="Подзаголовок 2"/>
          <p:cNvSpPr txBox="1">
            <a:spLocks/>
          </p:cNvSpPr>
          <p:nvPr/>
        </p:nvSpPr>
        <p:spPr>
          <a:xfrm>
            <a:off x="323528" y="4803998"/>
            <a:ext cx="8424936" cy="288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solidFill>
                  <a:srgbClr val="002060"/>
                </a:solidFill>
                <a:latin typeface="Arial Narrow" panose="020B0606020202030204" pitchFamily="34" charset="0"/>
              </a:rPr>
              <a:t>АКСЕЛЕРАЦИОННАЯ ПРОГРАММА – ВЫЗОВЫ БУДУЩЕГО – 2025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5D98D5-B9E6-49E8-83FC-4119DBE438F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0" t="33708" r="5094" b="4564"/>
          <a:stretch/>
        </p:blipFill>
        <p:spPr>
          <a:xfrm>
            <a:off x="6268843" y="2355726"/>
            <a:ext cx="1399502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370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1110</Words>
  <Application>Microsoft Office PowerPoint</Application>
  <PresentationFormat>Экран (16:9)</PresentationFormat>
  <Paragraphs>863</Paragraphs>
  <Slides>18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Actay Wide Bd</vt:lpstr>
      <vt:lpstr>Arial</vt:lpstr>
      <vt:lpstr>Arial Narrow</vt:lpstr>
      <vt:lpstr>Calibri</vt:lpstr>
      <vt:lpstr>Gilroy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Александра Бакулина</dc:creator>
  <cp:lastModifiedBy>Артем Игнатов</cp:lastModifiedBy>
  <cp:revision>66</cp:revision>
  <dcterms:created xsi:type="dcterms:W3CDTF">2025-10-26T09:14:30Z</dcterms:created>
  <dcterms:modified xsi:type="dcterms:W3CDTF">2025-11-24T13:32:20Z</dcterms:modified>
</cp:coreProperties>
</file>